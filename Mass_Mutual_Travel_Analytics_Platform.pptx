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28016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317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Travel &amp; Expense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Platform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605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ETL, governed data warehouse, and BI platform for multi-vendor corporate travel spend — from raw vendor CSVs to an authoritative analytical view powering Power BI, executive dashboards, and AI services.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React + Vite  •  PostgreSQL / SQLite  •  Power BI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single source of truth for travel spend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7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647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₹1.41 Cr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Completed Spend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7F1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7647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468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Flown Trips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7F1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7647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₹58.3K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468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514600" cy="1554480"/>
          </a:xfrm>
          <a:prstGeom prst="roundRect">
            <a:avLst>
              <a:gd name="adj" fmla="val 4706"/>
            </a:avLst>
          </a:prstGeom>
          <a:solidFill>
            <a:srgbClr val="E7F1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7647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60.1%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468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Share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79476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multi-tier ETL ingests multi-vendor travel records and applies automated cleansing, SCD Type-2 enrichment, and business rules.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36-column governed analytical view (vw_travel) as the single source of truth for Power BI, React dashboards, and AI services.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41/41 automated tests passing; full audit lineage from raw ingestion through manual overrides.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end-to-end data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7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Vendor Travel CSVs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57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(Q3/Q4 2026)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9888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9272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7F1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1691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Ingestion &amp; Staging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idempotency, batch audit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925312" y="19888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9904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7F1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99632" y="1691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Cleansing &amp; Validation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99632" y="2057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ISO-8601 dates, FX lineage, dedup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95944" y="19888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0536" y="160020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7F1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0264" y="169164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Master Data Enrichment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70264" y="205740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Type-2 employee &amp; ISO-3166 geo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7F1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34290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Business Rules Engine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Travelled flag, route classification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37261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19272" y="33375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7F1F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429000" y="34290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Governed Overrides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overrides, immutable audit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925312" y="37261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89904" y="33375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E7F1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199632" y="34290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Fact Storage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199632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fact_travel_tickets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695944" y="372618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860536" y="3337560"/>
            <a:ext cx="2606040" cy="1234440"/>
          </a:xfrm>
          <a:prstGeom prst="roundRect">
            <a:avLst>
              <a:gd name="adj" fmla="val 5185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70264" y="342900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vw_travel (36 cols)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8970264" y="3794760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• FastAPI • React UI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934956" y="2834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↓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of vw_travel:  PostgreSQL (DirectQuery)   •   Power BI Desktop   •   FastAPI REST &amp; Analytics (:8000)   •   React Executive UI (:3000)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pipeline: from raw CSV to trusted fact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916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27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20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file hashing for idempotency; unique microsecond batch IDs (BATCH_YYYYMMDD_HHMMSS_ffffff) logged in pipeline_batch_audits.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7889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7249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 &amp; Validation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017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ISO-8601 date normalization, multi-currency FX lineage (USD, GBP, EUR, SGD, AED, CAD, CHF, JPY, AUD), and record-hash deduplication. Bad rows quarantine to quarantined_records — zero silent defaults.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38862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221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1148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Type-2 join against employee_master resolves point-in-time department/role; country_reference maps ISO alpha-2/alpha-3 codes and corporate regions (APAC, AMER, EMEA).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69164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627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920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travelled_flag from ticket status (ISSUED/USED vs CANCELLED/REFUNDED/EXCHANGED) and classifies routes as Domestic, Cross-Border, or Multi-Country.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265176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278892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272491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Overrides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3017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overrides (e.g., ticket TCK-8012) recorded in manual_overrides with override_applied flag and an immutable audit trail.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vw_travel — the governed 36-column analytical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authoritative star-schema view built from fact_travel_tickets, employee_master, and country_reference — exposed identically to PostgreSQL, Power BI, and REST consumers.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404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&amp; Booking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432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ticket_id, batch_id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issue_date, travel_date, return_date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booking_status, is_duplicate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2404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(SCD-2)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7432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employee_id, name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business_unit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role resolution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0" y="24048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27432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destination country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origin_iso, dest_iso (alpha-2/3)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region (APAC/AMER/EMEA)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462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(FX)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8006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amount_original, currency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fx_rate, fx_rate_date, fx_source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amount_inr (base currency)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4343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80560" y="4462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Business Rules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8006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travelled_flag (Y/N)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trip_classification (Domestic / Cross-Border / Multi-Country)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travel_summary label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46720" y="4343400"/>
            <a:ext cx="3611880" cy="1874520"/>
          </a:xfrm>
          <a:prstGeom prst="roundRect">
            <a:avLst>
              <a:gd name="adj" fmla="val 2927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4462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00600"/>
            <a:ext cx="3246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override_applied, override_reason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manual_overrides audit trail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record_hash lineage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reporting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Power BI Visuals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Volume &amp; Spend Timeline — line &amp; clustered column, monthly trend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Business Division — clustered bar, sorted by completed spend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Route &amp; Country Distribution — donut of Domestic / Cross-Border / Multi-Country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 — date range, business unit, trip classification, ticket status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KPI cards — Total Spend, Flown Trips, Average Fare, Cross-Border Share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1554480"/>
            <a:ext cx="4389120" cy="4480560"/>
          </a:xfrm>
          <a:prstGeom prst="roundRect">
            <a:avLst>
              <a:gd name="adj" fmla="val 1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54380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Artifacts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224028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Corporate_Travel_Analytics.pbix — full report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production DAX measures (Measures.dax)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M transformation script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data model documentation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DirectQuery &amp; Import setup guide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executive dashboard &amp; self-service portal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overview and spend trends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9272" y="16916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10" name="Shape 8"/>
          <p:cNvSpPr/>
          <p:nvPr/>
        </p:nvSpPr>
        <p:spPr>
          <a:xfrm>
            <a:off x="3502152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ingestion &amp; audit monitoring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9904" y="16916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72784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72784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C-Suite PDF report generator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860536" y="169164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3416" y="18745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43416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43416" y="2514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043416" y="28803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governed BI reporting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4048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data &amp; policy visibility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9272" y="384048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502152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02152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02152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02152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bookings &amp; allowance burn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89904" y="384048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35" name="Shape 33"/>
          <p:cNvSpPr/>
          <p:nvPr/>
        </p:nvSpPr>
        <p:spPr>
          <a:xfrm>
            <a:off x="6272784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72784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272784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272784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spend analytics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60536" y="3840480"/>
            <a:ext cx="2606040" cy="1920240"/>
          </a:xfrm>
          <a:prstGeom prst="roundRect">
            <a:avLst>
              <a:gd name="adj" fmla="val 3333"/>
            </a:avLst>
          </a:prstGeom>
          <a:solidFill>
            <a:srgbClr val="E7F1F7"/>
          </a:solidFill>
          <a:ln/>
        </p:spPr>
      </p:sp>
      <p:sp>
        <p:nvSpPr>
          <p:cNvPr id="40" name="Shape 38"/>
          <p:cNvSpPr/>
          <p:nvPr/>
        </p:nvSpPr>
        <p:spPr>
          <a:xfrm>
            <a:off x="9043416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043416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043416" y="46634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043416" y="50292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AI assistant &amp; grievances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 18 + Vite, role-aware AuthContext, and a component library for modals, sidebar navigation, and theming.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controls baked into every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0F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PBKDF2-HMAC-SHA256, 100,000 iterations, per-user 16-byte random salts.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0F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856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Authentication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2860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JWT tokens with strict signature validation — no silent fallbacks.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0F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0" y="185623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RBAC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2860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admin, manager, and employee personas.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0F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005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Lineage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348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batch tracing, error quarantine isolation, immutable manual-override logs.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8404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0F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80560" y="4005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Reporting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4348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5-page printable PDF briefings formatted in Indian Standard Time (IST).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0F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0" y="4005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43484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and /health/db liveness &amp; readiness checks with lifespan event handling.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 and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434840"/>
          </a:xfrm>
          <a:prstGeom prst="roundRect">
            <a:avLst>
              <a:gd name="adj" fmla="val 2000"/>
            </a:avLst>
          </a:prstGeom>
          <a:solidFill>
            <a:srgbClr val="E7F1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/ 41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 (100%)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56616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end-to-end pipeline tests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system &amp; model verification tests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security &amp; auth tests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600200"/>
            <a:ext cx="7132320" cy="804672"/>
          </a:xfrm>
          <a:prstGeom prst="roundRect">
            <a:avLst>
              <a:gd name="adj" fmla="val 6818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170992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709928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SQLAlchemy, Pydantic, PyJWT, pytest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80560" y="2496312"/>
            <a:ext cx="7132320" cy="804672"/>
          </a:xfrm>
          <a:prstGeom prst="roundRect">
            <a:avLst>
              <a:gd name="adj" fmla="val 6818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60604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06040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Tailwind CSS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3392424"/>
            <a:ext cx="7132320" cy="804672"/>
          </a:xfrm>
          <a:prstGeom prst="roundRect">
            <a:avLst>
              <a:gd name="adj" fmla="val 6818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09160" y="350215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502152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(or SQLite fallback)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480560" y="4288536"/>
            <a:ext cx="7132320" cy="804672"/>
          </a:xfrm>
          <a:prstGeom prst="roundRect">
            <a:avLst>
              <a:gd name="adj" fmla="val 6818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9160" y="439826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Layer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98264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Desktop, DAX, Power Query 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80560" y="5184648"/>
            <a:ext cx="7132320" cy="804672"/>
          </a:xfrm>
          <a:prstGeom prst="roundRect">
            <a:avLst>
              <a:gd name="adj" fmla="val 6818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09160" y="529437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294376"/>
            <a:ext cx="4800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Compose, GitHub Actions CI/CD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4572000" cy="45720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84632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400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PS-04 delivers a governed, auditable path from raw vendor data to executive decision-making.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0F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774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Delivered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ETL pipeline with audit lineage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vw_travel (36 columns)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+ 14 DAX measures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&amp; employee portal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41/41 automated tests passing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14884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0F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29400" y="237744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C8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Can Go Next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880360"/>
            <a:ext cx="4709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forecasting models for spend prediction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automated policy-violation alerting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AI assistant to multi-turn approvals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additional vendor feeds</a:t>
            </a:r>
            <a:endParaRPr lang="en-US" sz="1300" dirty="0"/>
          </a:p>
          <a:p>
            <a:pPr marL="342900" indent="-342900">
              <a:lnSpc>
                <a:spcPct val="110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E7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for PostgreSQL at scale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2026-09-07T05:34:18Z</dcterms:created>
  <dcterms:modified xsi:type="dcterms:W3CDTF">2026-09-07T05:34:18Z</dcterms:modified>
</cp:coreProperties>
</file>